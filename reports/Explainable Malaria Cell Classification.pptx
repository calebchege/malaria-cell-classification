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(AUC=0.986)</c:v>
                </c:pt>
              </c:strCache>
            </c:strRef>
          </c:tx>
          <c:spPr>
            <a:solidFill>
              <a:srgbClr val="065A82"/>
            </a:solidFill>
            <a:ln w="28575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7A8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  <c:pt idx="6">
                    <c:v>0.5</c:v>
                  </c:pt>
                  <c:pt idx="7">
                    <c:v>0.7</c:v>
                  </c:pt>
                  <c:pt idx="8">
                    <c:v>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0.45</c:v>
                </c:pt>
                <c:pt idx="2">
                  <c:v>0.65</c:v>
                </c:pt>
                <c:pt idx="3">
                  <c:v>0.82</c:v>
                </c:pt>
                <c:pt idx="4">
                  <c:v>0.93</c:v>
                </c:pt>
                <c:pt idx="5">
                  <c:v>0.96</c:v>
                </c:pt>
                <c:pt idx="6">
                  <c:v>0.985</c:v>
                </c:pt>
                <c:pt idx="7">
                  <c:v>0.995</c:v>
                </c:pt>
                <c:pt idx="8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reference</c:v>
                </c:pt>
              </c:strCache>
            </c:strRef>
          </c:tx>
          <c:spPr>
            <a:solidFill>
              <a:srgbClr val="B9C3CC"/>
            </a:solidFill>
            <a:ln w="28575" cap="flat">
              <a:solidFill>
                <a:srgbClr val="B9C3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7A8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C3CC"/>
              </a:solidFill>
              <a:ln w="9525" cap="flat">
                <a:solidFill>
                  <a:srgbClr val="B9C3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</c:v>
                  </c:pt>
                  <c:pt idx="6">
                    <c:v>0.5</c:v>
                  </c:pt>
                  <c:pt idx="7">
                    <c:v>0.7</c:v>
                  </c:pt>
                  <c:pt idx="8">
                    <c:v>1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0.5</c:v>
                </c:pt>
                <c:pt idx="7">
                  <c:v>0.7</c:v>
                </c:pt>
                <c:pt idx="8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B7A8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"/>
            <a:ext cx="1188720" cy="1188720"/>
          </a:xfrm>
          <a:prstGeom prst="ellipse">
            <a:avLst/>
          </a:prstGeom>
          <a:solidFill>
            <a:srgbClr val="2E3B75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1188720"/>
            <a:ext cx="731520" cy="731520"/>
          </a:xfrm>
          <a:prstGeom prst="ellipse">
            <a:avLst/>
          </a:prstGeom>
          <a:solidFill>
            <a:srgbClr val="27447A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rgbClr val="2E3B75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365760"/>
            <a:ext cx="457200" cy="45720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4040" y="868680"/>
            <a:ext cx="502920" cy="502920"/>
          </a:xfrm>
          <a:prstGeom prst="ellipse">
            <a:avLst/>
          </a:prstGeom>
          <a:solidFill>
            <a:srgbClr val="2E3B75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28632" y="1033272"/>
            <a:ext cx="164592" cy="164592"/>
          </a:xfrm>
          <a:prstGeom prst="ellipse">
            <a:avLst/>
          </a:prstGeom>
          <a:solidFill>
            <a:srgbClr val="3FBFA6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RESEARCH PROTOTYPE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Supporting Malaria Screening Where Health Resources Are Limited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/home/claude/malaria_deck/icon_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450592"/>
            <a:ext cx="26517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230428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2587752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malaria-cell classification can be time-consuming and difficult to scale when laboratory and health-worker capacity is limited.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6301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/home/claude/malaria_deck/icon_userm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749040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60273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it affect?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34440" y="388620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health workers in Level 2 and Level 3 public health facilities across malaria-endemic western Kenya — Homa Bay, Kisumu, Migori, and Siaya.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/home/claude/malaria_deck/icon_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047488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490118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 now?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34440" y="5184648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understaffed facilities create a need to investigate tools that could assist health workers, without replacing lab confirmation or clinical judgement.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366760" y="233172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59536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49640" y="2788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4,134</a:t>
            </a:r>
            <a:endParaRPr lang="en-US" sz="6200" dirty="0"/>
          </a:p>
        </p:txBody>
      </p:sp>
      <p:sp>
        <p:nvSpPr>
          <p:cNvPr id="25" name="Text 20"/>
          <p:cNvSpPr/>
          <p:nvPr/>
        </p:nvSpPr>
        <p:spPr>
          <a:xfrm>
            <a:off x="8595360" y="3657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used to evaluate the final classifier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641080" y="4297680"/>
            <a:ext cx="27432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595360" y="4526280"/>
            <a:ext cx="1348740" cy="50292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28" name="Text 23"/>
          <p:cNvSpPr/>
          <p:nvPr/>
        </p:nvSpPr>
        <p:spPr>
          <a:xfrm>
            <a:off x="8595360" y="4526280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10081260" y="4526280"/>
            <a:ext cx="1348740" cy="50292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30" name="Text 25"/>
          <p:cNvSpPr/>
          <p:nvPr/>
        </p:nvSpPr>
        <p:spPr>
          <a:xfrm>
            <a:off x="10081260" y="4526280"/>
            <a:ext cx="13487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595360" y="5166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test split — no class dominates the evaluation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Microscopic Images to Explainable Predictions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malaria_deck/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373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Images for Detecting Malaria dataset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27,558 images in the original dataset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classes: Parasitized and Uninfected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10896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BEFEC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1089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originate from 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 clinical samples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1627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malaria_deck/icon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73736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645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194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(CNN)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2505456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because the task requires learning spatial visual patterns directly from microscopic cell images.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97396" y="31546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17" name="Text 13"/>
          <p:cNvSpPr/>
          <p:nvPr/>
        </p:nvSpPr>
        <p:spPr>
          <a:xfrm>
            <a:off x="6597396" y="3154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603236" y="3154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22692" y="31546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20" name="Text 16"/>
          <p:cNvSpPr/>
          <p:nvPr/>
        </p:nvSpPr>
        <p:spPr>
          <a:xfrm>
            <a:off x="7822692" y="3154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feature</a:t>
            </a:r>
            <a:endParaRPr lang="en-US" sz="85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828532" y="3154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047988" y="31546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23" name="Text 19"/>
          <p:cNvSpPr/>
          <p:nvPr/>
        </p:nvSpPr>
        <p:spPr>
          <a:xfrm>
            <a:off x="9047988" y="3154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85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0053828" y="3154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0273284" y="31546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26" name="Text 22"/>
          <p:cNvSpPr/>
          <p:nvPr/>
        </p:nvSpPr>
        <p:spPr>
          <a:xfrm>
            <a:off x="10273284" y="3154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537960" y="37216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images resized to 128 × 128 pixels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3931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29" name="Shape 25"/>
          <p:cNvSpPr/>
          <p:nvPr/>
        </p:nvSpPr>
        <p:spPr>
          <a:xfrm>
            <a:off x="777240" y="4050792"/>
            <a:ext cx="457200" cy="45720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30" name="Image 2" descr="/home/claude/malaria_deck/icon_balance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151376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417320" y="3931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majority-class baseline was used as the reference point for evaluating whether the CNN provided meaningful predictive improvement.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1097280" y="5212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3" descr="/home/claude/malaria_deck/icon_ima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5358384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8640" y="5925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image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2286000" y="532180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3429000" y="5212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4" descr="/home/claude/malaria_deck/icon_flas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5358384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2880360" y="5925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617720" y="532180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5760720" y="5212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2" name="Image 5" descr="/home/claude/malaria_deck/icon_lay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5358384"/>
            <a:ext cx="347472" cy="34747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12080" y="5925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6949440" y="532180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8092440" y="5212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6" descr="/home/claude/malaria_deck/icon_bullsey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5358384"/>
            <a:ext cx="347472" cy="34747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543800" y="5925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9281160" y="532180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0"/>
          <p:cNvSpPr/>
          <p:nvPr/>
        </p:nvSpPr>
        <p:spPr>
          <a:xfrm>
            <a:off x="10424160" y="5212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0" name="Image 7" descr="/home/claude/malaria_deck/icon_search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4" y="5358384"/>
            <a:ext cx="347472" cy="3474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875520" y="5925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Performance on the Held-Out Test Set — With an Important Trade-off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94.73%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7007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classified approximately 95 out of every 100 unseen test images.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097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17043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17007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ability to distinguish Parasitized from Uninfected images across classification thresholds.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17043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91.29%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0" y="17007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 RECALL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19202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detected approximately 91% of genuinely parasitized images at the selected threshold.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15768"/>
          <a:ext cx="7635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417320"/>
                <a:gridCol w="1417320"/>
                <a:gridCol w="141732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Uninfected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Parasitized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4133088"/>
            <a:ext cx="7635240" cy="502920"/>
          </a:xfrm>
          <a:prstGeom prst="roundRect">
            <a:avLst>
              <a:gd name="adj" fmla="val 10909"/>
            </a:avLst>
          </a:prstGeom>
          <a:solidFill>
            <a:srgbClr val="FBEFEC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133088"/>
            <a:ext cx="7269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trade-off: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highly reliable when predicting Parasitized, but it misses some genuinely parasitized images.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0" y="2715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— AUC = 0.9860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412480" y="3008376"/>
          <a:ext cx="3200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/>
          <p:nvPr/>
        </p:nvSpPr>
        <p:spPr>
          <a:xfrm>
            <a:off x="8412480" y="4654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curve shape based on the reported AUC value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8412480" y="5001768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41080" y="5166360"/>
            <a:ext cx="914400" cy="914400"/>
          </a:xfrm>
          <a:prstGeom prst="ellipse">
            <a:avLst/>
          </a:prstGeom>
          <a:solidFill>
            <a:srgbClr val="E6D5DE"/>
          </a:solidFill>
          <a:ln w="12700">
            <a:solidFill>
              <a:srgbClr val="C9AFC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915400" y="5413248"/>
            <a:ext cx="320040" cy="320040"/>
          </a:xfrm>
          <a:prstGeom prst="ellipse">
            <a:avLst/>
          </a:prstGeom>
          <a:solidFill>
            <a:srgbClr val="3FBFA6">
              <a:alpha val="6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098280" y="5596128"/>
            <a:ext cx="201168" cy="201168"/>
          </a:xfrm>
          <a:prstGeom prst="ellipse">
            <a:avLst/>
          </a:prstGeom>
          <a:solidFill>
            <a:srgbClr val="C0392B">
              <a:alpha val="6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9692640" y="51663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explanation: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contributing to prediction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595360" y="59344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(Grad-CAM — not evidence of medical causality)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AI: Strong Results Do Not Equal Clinical Readiness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2A346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5" name="Image 0" descr="/home/claude/malaria_deck/icon_warning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819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cannot 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independently diagnose malaria, determine treatment, or replace microscopy, laboratory confirmation, or qualified clinical judgement.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23444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2A3468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463040"/>
            <a:ext cx="502920" cy="50292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10" name="Image 1" descr="/home/claude/malaria_deck/icon_users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58191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1031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be harmed?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26280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greatest potential harm is to patients if a false-negative prediction of a parasitized cell is incorrectly trusted.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23444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2A3468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463040"/>
            <a:ext cx="502920" cy="50292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15" name="Image 2" descr="/home/claude/malaria_deck/icon_balance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58191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1031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criterion: Equal Opportunity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75320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because the key safety concern is whether the system detects genuinely parasitized cells consistently across relevant groups and conditions.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75320" y="3566160"/>
            <a:ext cx="3154680" cy="0"/>
          </a:xfrm>
          <a:prstGeom prst="line">
            <a:avLst/>
          </a:prstGeom>
          <a:noFill/>
          <a:ln w="12700">
            <a:solidFill>
              <a:srgbClr val="44508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75320" y="36301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Kenyan validation should examine: collection site, staining protocol, microscope equipment, image quality.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8E2A20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malaria_deck/icon_warning_C03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553712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40740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B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significant limitation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508760" y="46817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and evaluated using Bangladeshi clinical samples and has not been validated on Kenyan-collected smears.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508760" y="5120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B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using Kenyan-collected smears is required before any clinical deployment could be responsibly considered.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508760" y="54864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94.73% test accuracy does NOT mean 94.73% expected clinical performance in Kenya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— and What Comes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468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481328"/>
            <a:ext cx="457200" cy="45720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5" name="Image 0" descr="/home/claude/malaria_deck/icon_check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9105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" y="201168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can learn useful visual patterns for distinguishing parasitized and uninfected blood-cell images.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2801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468"/>
          </a:solidFill>
          <a:ln/>
        </p:spPr>
      </p:sp>
      <p:sp>
        <p:nvSpPr>
          <p:cNvPr id="9" name="Shape 6"/>
          <p:cNvSpPr/>
          <p:nvPr/>
        </p:nvSpPr>
        <p:spPr>
          <a:xfrm>
            <a:off x="4498848" y="1481328"/>
            <a:ext cx="457200" cy="45720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10" name="Image 1" descr="/home/claude/malaria_deck/icon_chart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5910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98848" y="201168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performs strongly on the held-out dataset, but its ability to detect every parasitized cell is not perfect.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12801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468"/>
          </a:solidFill>
          <a:ln/>
        </p:spPr>
      </p:sp>
      <p:sp>
        <p:nvSpPr>
          <p:cNvPr id="14" name="Shape 10"/>
          <p:cNvSpPr/>
          <p:nvPr/>
        </p:nvSpPr>
        <p:spPr>
          <a:xfrm>
            <a:off x="8247888" y="1481328"/>
            <a:ext cx="457200" cy="45720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15" name="Image 2" descr="/home/claude/malaria_deck/icon_search_2129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5910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2396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47888" y="201168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makes the system more interpretable by showing contributing image regions, though these are not clinical evidence.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2926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3FBFA6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0" name="Image 3" descr="/home/claude/malaria_deck/icon_handshake_3FBFA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41071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05409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Next-phase recommendation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508760" y="3291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Kenyan public-health laboratories or research institutions to collect and ethically govern a representative dataset of Kenyan-collected blood smears from Homa Bay, Kisumu, Migori, and Siaya, then perform external validation before considering any real-world deployment.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97280" y="43891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next challenge is not simply making the model more accurate — it is establishing whether it remains reliable, fair, and useful in the Kenyan setting where it is intended to help.”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FBFA6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5166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2468880" y="51663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2834640" y="5166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A3468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5166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data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754880" y="51663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120640" y="5166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A3468"/>
          </a:solidFill>
          <a:ln/>
        </p:spPr>
      </p:sp>
      <p:sp>
        <p:nvSpPr>
          <p:cNvPr id="31" name="Text 25"/>
          <p:cNvSpPr/>
          <p:nvPr/>
        </p:nvSpPr>
        <p:spPr>
          <a:xfrm>
            <a:off x="5120640" y="5166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040880" y="51663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7406640" y="5166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A3468"/>
          </a:solidFill>
          <a:ln/>
        </p:spPr>
      </p:sp>
      <p:sp>
        <p:nvSpPr>
          <p:cNvPr id="34" name="Text 28"/>
          <p:cNvSpPr/>
          <p:nvPr/>
        </p:nvSpPr>
        <p:spPr>
          <a:xfrm>
            <a:off x="7406640" y="5166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/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326880" y="51663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692640" y="5166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A3468"/>
          </a:solidFill>
          <a:ln/>
        </p:spPr>
      </p:sp>
      <p:sp>
        <p:nvSpPr>
          <p:cNvPr id="37" name="Text 31"/>
          <p:cNvSpPr/>
          <p:nvPr/>
        </p:nvSpPr>
        <p:spPr>
          <a:xfrm>
            <a:off x="9692640" y="5166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assessment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2026-08-12T19:12:36Z</dcterms:created>
  <dcterms:modified xsi:type="dcterms:W3CDTF">2026-08-12T19:12:36Z</dcterms:modified>
</cp:coreProperties>
</file>